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4D8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EF3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D8D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D8D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2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2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Bundesliga</c:v>
                  </c:pt>
                  <c:pt idx="1">
                    <c:v>EPL</c:v>
                  </c:pt>
                  <c:pt idx="2">
                    <c:v>Greece</c:v>
                  </c:pt>
                  <c:pt idx="3">
                    <c:v>Turkey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5.61</c:v>
                </c:pt>
                <c:pt idx="1">
                  <c:v>5.5</c:v>
                </c:pt>
                <c:pt idx="2">
                  <c:v>6.03</c:v>
                </c:pt>
                <c:pt idx="3">
                  <c:v>6.77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EF3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1E2C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B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Universal model</c:v>
                </c:pt>
              </c:strCache>
            </c:strRef>
          </c:tx>
          <c:spPr>
            <a:solidFill>
              <a:srgbClr val="8893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EF3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Bundesliga</c:v>
                  </c:pt>
                  <c:pt idx="1">
                    <c:v>EPL</c:v>
                  </c:pt>
                  <c:pt idx="2">
                    <c:v>Turkey</c:v>
                  </c:pt>
                  <c:pt idx="3">
                    <c:v>Greece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</c:v>
                </c:pt>
                <c:pt idx="1">
                  <c:v>4.4</c:v>
                </c:pt>
                <c:pt idx="2">
                  <c:v>2</c:v>
                </c:pt>
                <c:pt idx="3">
                  <c:v>10.6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Tier-aware model</c:v>
                </c:pt>
              </c:strCache>
            </c:strRef>
          </c:tx>
          <c:spPr>
            <a:solidFill>
              <a:srgbClr val="4D8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EF3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Bundesliga</c:v>
                  </c:pt>
                  <c:pt idx="1">
                    <c:v>EPL</c:v>
                  </c:pt>
                  <c:pt idx="2">
                    <c:v>Turkey</c:v>
                  </c:pt>
                  <c:pt idx="3">
                    <c:v>Greece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</c:v>
                </c:pt>
                <c:pt idx="1">
                  <c:v>5.1</c:v>
                </c:pt>
                <c:pt idx="2">
                  <c:v>4.3</c:v>
                </c:pt>
                <c:pt idx="3">
                  <c:v>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EF3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l"/>
        <c:majorGridlines>
          <c:spPr>
            <a:ln w="6350" cap="flat">
              <a:solidFill>
                <a:srgbClr val="1E2C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893A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B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score gap (×100)</c:v>
                </c:pt>
              </c:strCache>
            </c:strRef>
          </c:tx>
          <c:spPr>
            <a:solidFill>
              <a:srgbClr val="4D8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EF3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Drift (price moved late)</c:v>
                  </c:pt>
                  <c:pt idx="1">
                    <c:v>Spread (book disagreement)</c:v>
                  </c:pt>
                  <c:pt idx="2">
                    <c:v>Public–sharp gap</c:v>
                  </c:pt>
                  <c:pt idx="3">
                    <c:v>Margin deviation</c:v>
                  </c:pt>
                  <c:pt idx="4">
                    <c:v>Reversal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</c:v>
                </c:pt>
                <c:pt idx="1">
                  <c:v>47</c:v>
                </c:pt>
                <c:pt idx="2">
                  <c:v>13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EEF3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3F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1E2C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B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(percentile ×100)</c:v>
                </c:pt>
              </c:strCache>
            </c:strRef>
          </c:tx>
          <c:spPr>
            <a:solidFill>
              <a:srgbClr val="4D8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EF3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Spread</c:v>
                  </c:pt>
                  <c:pt idx="1">
                    <c:v>Drift</c:v>
                  </c:pt>
                  <c:pt idx="2">
                    <c:v>Public–sharp gap</c:v>
                  </c:pt>
                  <c:pt idx="3">
                    <c:v>Margin deviation</c:v>
                  </c:pt>
                  <c:pt idx="4">
                    <c:v>Reversal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51</c:v>
                </c:pt>
                <c:pt idx="4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EF3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3F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b"/>
        <c:majorGridlines>
          <c:spPr>
            <a:ln w="6350" cap="flat">
              <a:solidFill>
                <a:srgbClr val="1E2C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B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framing as market-efficiency study, not match-fixing detector. No ground-truth labels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football-data.co.uk. Real Bet365 and Pinnacle opening and closing odds.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dbt: 3 models. 9 passing tests. Two Isolation Forest models: universal + tier-aware.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implied probability = 1/decimal odds. Overround = sum of implied probabilities &gt;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Calibration line ends at ~83% — the 90-100% bucket has only 5 matches, below the minimum threshold of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FLB: recreational bettors overbet longshots, bookmakers shade those prices down, favourites relatively underpriced.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result: mixed. EPL correctly priced. Greece gap real and consistent but not statistically significant after correction at n=7.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 Forest: unsupervised. No labeled fixed matches needed. Contamination=0.05.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result: supported. Gap cut from 10.6% to 5.5%.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decomposes each match's anomaly score into per-family contributions. This chart averages the gap between Greece and all other leagues.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AEK Athens was a very heavy home favourite (1.03 odds). Extreme draw and away odds moved significantly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domain is football, methodology is not. Honest null results strengthen the credibility of supported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Betting Market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market-efficiency study with anomaly screening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8,915 matches · 4 leagues · 7 seasons · real Bet365 &amp; Pinnacle odds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Vladislav Kivaev  ·  Spiced Academy Berlin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44168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8,915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8882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analysed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6312" y="1234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344168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96312" y="18882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234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344168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26864" y="18882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· 2019/20 – 2025/26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57416" y="1234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57416" y="1344168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57416" y="18882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bookmakers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Bet365 &amp; Pinnacle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Bundesliga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Süper Lig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Türkiye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League Greece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+ EDA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874520"/>
            <a:ext cx="320040" cy="0"/>
          </a:xfrm>
          <a:prstGeom prst="line">
            <a:avLst/>
          </a:prstGeom>
          <a:noFill/>
          <a:ln w="19050">
            <a:solidFill>
              <a:srgbClr val="1E2C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37160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storage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874520"/>
            <a:ext cx="320040" cy="0"/>
          </a:xfrm>
          <a:prstGeom prst="line">
            <a:avLst/>
          </a:prstGeom>
          <a:noFill/>
          <a:ln w="19050">
            <a:solidFill>
              <a:srgbClr val="1E2C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37160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+ tests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874520"/>
            <a:ext cx="320040" cy="0"/>
          </a:xfrm>
          <a:prstGeom prst="line">
            <a:avLst/>
          </a:prstGeom>
          <a:noFill/>
          <a:ln w="19050">
            <a:solidFill>
              <a:srgbClr val="1E2C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37160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+ SHAP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874520"/>
            <a:ext cx="320040" cy="0"/>
          </a:xfrm>
          <a:prstGeom prst="line">
            <a:avLst/>
          </a:prstGeom>
          <a:noFill/>
          <a:ln w="19050">
            <a:solidFill>
              <a:srgbClr val="1E2C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37160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engineered features in 5 families: drift · spread · margin deviation · public–sharp gap · reversal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 names or player data — only odds behaviour.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560320"/>
                <a:gridCol w="201168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 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passing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(35 per model set)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8,915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101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odds work &amp; where the margin hides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11480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EF3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🇲🇽 Mexico (home)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🤝 Draw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🇿🇦 South Africa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A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A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Mexico won 1–0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846320" y="118872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846320" y="4069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Bet365 closing margin by league (%)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39776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1792" y="4069080"/>
            <a:ext cx="3785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6% above 100% is the house margin — built into every price. Profitable betting requires finding edges larger than this margin consistently.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EFFICIENCY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remarkably accurate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44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0.999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6312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344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96312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home-win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344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26864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favourites win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57416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57416" y="1344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+1.5pp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57416" y="1737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draw gap</a:t>
            </a:r>
            <a:endParaRPr lang="en-US" sz="1100" dirty="0"/>
          </a:p>
        </p:txBody>
      </p:sp>
      <p:pic>
        <p:nvPicPr>
          <p:cNvPr id="16" name="Image 0" descr="/mnt/project/fig_08_calibration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0"/>
            <a:ext cx="8412480" cy="26517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470916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30352" y="4800600"/>
            <a:ext cx="80832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uses normalised probabilities (margin stripped out). r=0.999 confirms near-perfect accuracy — but this doesn't imply profitable betting once the 6% margin is restored.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EFFICIENCY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Favourite–longshot bias — zoomed in</a:t>
            </a:r>
            <a:endParaRPr lang="en-US" sz="2800" dirty="0"/>
          </a:p>
        </p:txBody>
      </p:sp>
      <p:pic>
        <p:nvPicPr>
          <p:cNvPr id="4" name="Image 0" descr="/mnt/project/fig_09_favourite_longshot_bi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841248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0352" y="4663440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outcome happened more than implied (underpriced). Favourites (60–80% implied) are slightly underpriced (+2–4pp). Longshots (10%) are slightly overpriced (−1pp). Gaps are real but too small to overcome the 5–7% margin.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EFFICIENCY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Draws: systematic mispricing by league</a:t>
            </a:r>
            <a:endParaRPr lang="en-US" sz="2800" dirty="0"/>
          </a:p>
        </p:txBody>
      </p:sp>
      <p:pic>
        <p:nvPicPr>
          <p:cNvPr id="4" name="Image 0" descr="/mnt/project/fig_10_draw_mis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841248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0352" y="4663440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EPL: implied 23.8% vs realised 23.6% — essentially correct. Greece: implied 25.7% vs realised 27.2% — draws happen +1.5pp more than the market expects, every season.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 — no team data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6187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open → close odds moved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231343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606040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between bookmakers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36499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deviation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3657600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Book's margin vs the typical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56432" y="126187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Public–sharp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1554480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Bet365 vs Pinnacle divergence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240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56432" y="231343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6432" y="2606040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books moved the price in opposite directions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82512" y="1280160"/>
            <a:ext cx="2322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Isolation Forest learns what normal odds behaviour looks like across all 8,915 matches, then scores each match by how far it sits from that normal.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then splits the score into per-family contributions.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 names, results, or player stats.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features in 5 families — no team or player data, by design.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flags at 10.6% — tier-aware model fixes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80160"/>
            <a:ext cx="3785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distribution across all 8,915 matches.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Bell-shaped blue mass = normal odds behaviour.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tail on the right = top 5% by score — 446 matches flagged.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a z-score: 0 = typical, higher = more anomalous.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663440" y="118872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41605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rate (%) by league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28346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0352" y="2926080"/>
            <a:ext cx="37856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model over-flags structurally noisier markets like Greece (10.6%).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Tier-aware model re-scores against own league history — pulls every league toward 5%.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pre-registered criterion met: gap cut by more than half.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Greece — drift &amp; spread across all 1,666 matches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SHAP gap vs other leagues (scaled ×100 for readability)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035040" y="105156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99632" y="1143000"/>
            <a:ext cx="2505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= how much more that signal pushes Greek matches toward anomalous vs other leagues — averaged across ALL 1,666 Greek matches, not just flagged ones.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743200"/>
            <a:ext cx="2834640" cy="2103120"/>
          </a:xfrm>
          <a:prstGeom prst="roundRect">
            <a:avLst>
              <a:gd name="adj" fmla="val 3478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99632" y="2834640"/>
            <a:ext cx="250545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(0.49) + Spread (0.47) together explain ~⅔ of Greece's elevated scores.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odds move more late and bookmakers disagree more on prices — consistently, across seven seasons.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layers confirm this: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Model · SHAP · KS tests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AEK Athens vs Volos · Greece · 2023-05-14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1615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43560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FLAGGED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20824" y="118872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20824" y="121615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20824" y="143560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(1–0)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21608" y="118872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21608" y="121615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spc="200" kern="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0.1% MOST UNUSUAL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721608" y="143560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22392" y="118872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22392" y="121615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BET365 H/D/A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22392" y="143560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 / 17.0 / 41.0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23176" y="1188720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3176" y="121615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H/D/A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23176" y="143560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 / 25.4 / 45.7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20040" y="2194560"/>
          <a:ext cx="5029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320040" y="48463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 — dataset-wide percentile (0–100)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77840" y="219456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42432" y="2286000"/>
            <a:ext cx="2916936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drift at 99th percentile = more extreme than 99% of all 8,915 matches.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Away odds: Bet365 41.00 vs Pinnacle 45.69 — gap of 4.69 decimal points.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away drift: +12.46 (Pinnacle open→close).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Bookmaker margin: 5.4% — close to dataset mean of 6.1%. Margin deviation is not the driver here.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findings, two surprises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efficiency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5727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r=0.999 calibration across 8,915 matches. The market is broadly accurate — but accuracy ≠ profitability once the 6% margin is restored.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stands 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5192" y="15727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 universal flag rate vs 5% target. Drift and spread explain ~⅔ of the gap across all Greek matches — not just suspicious ones.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715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Tier-aware model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9900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Re-scoring against own league history pulls every league to ~5%. Same logic as per-merchant calibration in fraud detection.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60604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65192" y="2715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surprises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29900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rejected — Turkey is the outlier, not 'mid-tier as a block'. H4 rejected — spread falls at season's end in Greece, not spikes.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11B3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251960"/>
            <a:ext cx="808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is directly applicable beyond football: any market with pre- and post-event pricing (financial instruments, e-commerce, insurance) benefits from the same pipeline — feature engineering on transaction signals → Isolation Forest → segment-aware calibration → SHAP attribution.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Betting Market Efficiency Analysis</dc:title>
  <dc:subject>PptxGenJS Presentation</dc:subject>
  <dc:creator>Vladislav Kivaev</dc:creator>
  <cp:lastModifiedBy>Vladislav Kivaev</cp:lastModifiedBy>
  <cp:revision>1</cp:revision>
  <dcterms:created xsi:type="dcterms:W3CDTF">2026-06-21T23:04:49Z</dcterms:created>
  <dcterms:modified xsi:type="dcterms:W3CDTF">2026-06-21T23:04:49Z</dcterms:modified>
</cp:coreProperties>
</file>